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" y="25400"/>
            <a:ext cx="117957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GLYPH ALPHABET — every character is its own run with its own background colour; export to SVG and read each coloured rectangle as one advance. Roboto (red frame) vs Times New Roman (green frame), 20pt and 11pt. All colours in a line are different. Line "pairs": kern-heavy 2-letter words, ONE run each (To Ta Yo Wa AV LT Ty Fl).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1600" y="3048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20pt · upper</a:t>
            </a:r>
            <a:endParaRPr lang="en-US" sz="600" dirty="0"/>
          </a:p>
        </p:txBody>
      </p:sp>
      <p:sp>
        <p:nvSpPr>
          <p:cNvPr id="4" name="Roboto_20_upper"/>
          <p:cNvSpPr/>
          <p:nvPr/>
        </p:nvSpPr>
        <p:spPr>
          <a:xfrm>
            <a:off x="101600" y="406400"/>
            <a:ext cx="11811000" cy="304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9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A1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56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B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C7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C6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1600" y="7366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20pt · lower</a:t>
            </a:r>
            <a:endParaRPr lang="en-US" sz="600" dirty="0"/>
          </a:p>
        </p:txBody>
      </p:sp>
      <p:sp>
        <p:nvSpPr>
          <p:cNvPr id="6" name="Roboto_20_lower"/>
          <p:cNvSpPr/>
          <p:nvPr/>
        </p:nvSpPr>
        <p:spPr>
          <a:xfrm>
            <a:off x="101600" y="838200"/>
            <a:ext cx="11811000" cy="304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9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A1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56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B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C7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C6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" y="11684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20pt · digits</a:t>
            </a:r>
            <a:endParaRPr lang="en-US" sz="600" dirty="0"/>
          </a:p>
        </p:txBody>
      </p:sp>
      <p:sp>
        <p:nvSpPr>
          <p:cNvPr id="8" name="Roboto_20_digits"/>
          <p:cNvSpPr/>
          <p:nvPr/>
        </p:nvSpPr>
        <p:spPr>
          <a:xfrm>
            <a:off x="101600" y="1270000"/>
            <a:ext cx="11811000" cy="304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" y="16002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20pt · punct</a:t>
            </a:r>
            <a:endParaRPr lang="en-US" sz="600" dirty="0"/>
          </a:p>
        </p:txBody>
      </p:sp>
      <p:sp>
        <p:nvSpPr>
          <p:cNvPr id="10" name="Roboto_20_punct"/>
          <p:cNvSpPr/>
          <p:nvPr/>
        </p:nvSpPr>
        <p:spPr>
          <a:xfrm>
            <a:off x="101600" y="1701800"/>
            <a:ext cx="11811000" cy="304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"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%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&amp;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@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$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=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1600" y="20320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20pt · pairs</a:t>
            </a:r>
            <a:endParaRPr lang="en-US" sz="600" dirty="0"/>
          </a:p>
        </p:txBody>
      </p:sp>
      <p:sp>
        <p:nvSpPr>
          <p:cNvPr id="12" name="Roboto_20_pairs"/>
          <p:cNvSpPr/>
          <p:nvPr/>
        </p:nvSpPr>
        <p:spPr>
          <a:xfrm>
            <a:off x="101600" y="2133600"/>
            <a:ext cx="11811000" cy="30480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1600" y="24638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20pt · upper</a:t>
            </a:r>
            <a:endParaRPr lang="en-US" sz="600" dirty="0"/>
          </a:p>
        </p:txBody>
      </p:sp>
      <p:sp>
        <p:nvSpPr>
          <p:cNvPr id="14" name="Times New Roman_20_upper"/>
          <p:cNvSpPr/>
          <p:nvPr/>
        </p:nvSpPr>
        <p:spPr>
          <a:xfrm>
            <a:off x="101600" y="2565400"/>
            <a:ext cx="11811000" cy="30480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9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A1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56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BE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C7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C6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1600" y="28956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20pt · lower</a:t>
            </a:r>
            <a:endParaRPr lang="en-US" sz="600" dirty="0"/>
          </a:p>
        </p:txBody>
      </p:sp>
      <p:sp>
        <p:nvSpPr>
          <p:cNvPr id="16" name="Times New Roman_20_lower"/>
          <p:cNvSpPr/>
          <p:nvPr/>
        </p:nvSpPr>
        <p:spPr>
          <a:xfrm>
            <a:off x="101600" y="2997200"/>
            <a:ext cx="11811000" cy="30480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9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A1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56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BE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C7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C6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00" y="33274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20pt · digits</a:t>
            </a:r>
            <a:endParaRPr lang="en-US" sz="600" dirty="0"/>
          </a:p>
        </p:txBody>
      </p:sp>
      <p:sp>
        <p:nvSpPr>
          <p:cNvPr id="18" name="Times New Roman_20_digits"/>
          <p:cNvSpPr/>
          <p:nvPr/>
        </p:nvSpPr>
        <p:spPr>
          <a:xfrm>
            <a:off x="101600" y="3429000"/>
            <a:ext cx="11811000" cy="30480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1600" y="37592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20pt · punct</a:t>
            </a:r>
            <a:endParaRPr lang="en-US" sz="600" dirty="0"/>
          </a:p>
        </p:txBody>
      </p:sp>
      <p:sp>
        <p:nvSpPr>
          <p:cNvPr id="20" name="Times New Roman_20_punct"/>
          <p:cNvSpPr/>
          <p:nvPr/>
        </p:nvSpPr>
        <p:spPr>
          <a:xfrm>
            <a:off x="101600" y="3860800"/>
            <a:ext cx="11811000" cy="30480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.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?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6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'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C7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65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FF98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@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6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DA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$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F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E3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1600" y="41910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20pt · pairs</a:t>
            </a:r>
            <a:endParaRPr lang="en-US" sz="600" dirty="0"/>
          </a:p>
        </p:txBody>
      </p:sp>
      <p:sp>
        <p:nvSpPr>
          <p:cNvPr id="22" name="Times New Roman_20_pairs"/>
          <p:cNvSpPr/>
          <p:nvPr/>
        </p:nvSpPr>
        <p:spPr>
          <a:xfrm>
            <a:off x="101600" y="4292600"/>
            <a:ext cx="11811000" cy="30480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1600" y="46228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11pt · upper</a:t>
            </a:r>
            <a:endParaRPr lang="en-US" sz="600" dirty="0"/>
          </a:p>
        </p:txBody>
      </p:sp>
      <p:sp>
        <p:nvSpPr>
          <p:cNvPr id="24" name="Roboto_11_upper"/>
          <p:cNvSpPr/>
          <p:nvPr/>
        </p:nvSpPr>
        <p:spPr>
          <a:xfrm>
            <a:off x="101600" y="4724400"/>
            <a:ext cx="11811000" cy="167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6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C7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65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9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6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DA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E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9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A1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56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B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C7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C6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1600" y="491744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11pt · lower</a:t>
            </a:r>
            <a:endParaRPr lang="en-US" sz="600" dirty="0"/>
          </a:p>
        </p:txBody>
      </p:sp>
      <p:sp>
        <p:nvSpPr>
          <p:cNvPr id="26" name="Roboto_11_lower"/>
          <p:cNvSpPr/>
          <p:nvPr/>
        </p:nvSpPr>
        <p:spPr>
          <a:xfrm>
            <a:off x="101600" y="5019040"/>
            <a:ext cx="11811000" cy="167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B4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B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6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C7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65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98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6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DA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F7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E3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96FF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A1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56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B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C7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C6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z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600" y="521208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 11pt · pairs</a:t>
            </a:r>
            <a:endParaRPr lang="en-US" sz="600" dirty="0"/>
          </a:p>
        </p:txBody>
      </p:sp>
      <p:sp>
        <p:nvSpPr>
          <p:cNvPr id="28" name="Roboto_11_pairs"/>
          <p:cNvSpPr/>
          <p:nvPr/>
        </p:nvSpPr>
        <p:spPr>
          <a:xfrm>
            <a:off x="101600" y="5313680"/>
            <a:ext cx="11811000" cy="16764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Yo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Wa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AV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Fl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600" y="550672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11pt · upper</a:t>
            </a:r>
            <a:endParaRPr lang="en-US" sz="600" dirty="0"/>
          </a:p>
        </p:txBody>
      </p:sp>
      <p:sp>
        <p:nvSpPr>
          <p:cNvPr id="30" name="Times New Roman_11_upper"/>
          <p:cNvSpPr/>
          <p:nvPr/>
        </p:nvSpPr>
        <p:spPr>
          <a:xfrm>
            <a:off x="101600" y="5608320"/>
            <a:ext cx="11811000" cy="16764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6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C7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65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98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6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DA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F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E3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9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A1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56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BE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C7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C6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1600" y="580136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11pt · lower</a:t>
            </a:r>
            <a:endParaRPr lang="en-US" sz="600" dirty="0"/>
          </a:p>
        </p:txBody>
      </p:sp>
      <p:sp>
        <p:nvSpPr>
          <p:cNvPr id="32" name="Times New Roman_11_lower"/>
          <p:cNvSpPr/>
          <p:nvPr/>
        </p:nvSpPr>
        <p:spPr>
          <a:xfrm>
            <a:off x="101600" y="5902960"/>
            <a:ext cx="11811000" cy="16764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B4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B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6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C7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65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98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6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DA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F7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E3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96FF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A1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56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FFBE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C7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C6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600" y="6096000"/>
            <a:ext cx="3810000" cy="10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 11pt · pairs</a:t>
            </a:r>
            <a:endParaRPr lang="en-US" sz="600" dirty="0"/>
          </a:p>
        </p:txBody>
      </p:sp>
      <p:sp>
        <p:nvSpPr>
          <p:cNvPr id="34" name="Times New Roman_11_pairs"/>
          <p:cNvSpPr/>
          <p:nvPr/>
        </p:nvSpPr>
        <p:spPr>
          <a:xfrm>
            <a:off x="101600" y="6197600"/>
            <a:ext cx="11811000" cy="167640"/>
          </a:xfrm>
          <a:prstGeom prst="rect">
            <a:avLst/>
          </a:prstGeom>
          <a:noFill/>
          <a:ln w="9525">
            <a:solidFill>
              <a:srgbClr val="00A05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8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3DFF7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D08F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E73D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8FEC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FF3DA6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ABFF8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111"/>
                </a:solidFill>
                <a:highlight>
                  <a:srgbClr val="453DFF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2026-09-20T15:08:05Z</dcterms:created>
  <dcterms:modified xsi:type="dcterms:W3CDTF">2026-09-20T15:08:05Z</dcterms:modified>
</cp:coreProperties>
</file>