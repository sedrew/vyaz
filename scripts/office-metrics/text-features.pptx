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single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multirun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 quick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brown fox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jumps over the lazy dog while a frame measures every line box.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mixed-size"/>
          <p:cNvSpPr/>
          <p:nvPr/>
        </p:nvSpPr>
        <p:spPr>
          <a:xfrm>
            <a:off x="457200" y="457200"/>
            <a:ext cx="2794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Small words then </a:t>
            </a:r>
            <a:r>
              <a:rPr lang="en-US" sz="2800" b="0" dirty="0">
                <a:solidFill>
                  <a:srgbClr val="000000"/>
                </a:solidFill>
                <a:latin typeface="Arial"/>
                <a:cs typeface="Arial"/>
              </a:rPr>
              <a:t>BIG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and more small words that wrap onto further lines.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br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Short line ends in a break</a:t>
            </a:r>
            <a:b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then the text continues long enough to wrap twice inside the box.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multispace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Two  spaces   three    four spaces between words that wrap here.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roboto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Roboto"/>
                <a:cs typeface="Roboto"/>
              </a:rPr>
              <a:t>The quick brown fox jumps over the lazy dog while a frame measures every line box and decides where each word wraps inside the given rectangle.</a:t>
            </a:r>
            <a:endParaRPr lang="en-US" sz="1800" b="0" dirty="0">
              <a:solidFill>
                <a:srgbClr val="000000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-underline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sng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27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First item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 item that is long enough to wrap onto a second line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Third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18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First item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 item that is long enough to wrap onto a second line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6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76200" indent="-76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Hanging narrower than the bullet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76200" indent="-76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0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No hanging indent at all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indent40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508000" indent="-25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marL 40 indent -20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508000" indent="-25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 item long enough to wrap onto a second line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sizes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0" dirty="0">
                <a:solidFill>
                  <a:srgbClr val="000000"/>
                </a:solidFill>
                <a:latin typeface="Arial"/>
                <a:cs typeface="Arial"/>
              </a:rPr>
              <a:t>Size 12</a:t>
            </a:r>
            <a:endParaRPr lang="en-US" sz="12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Size 24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Size 40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pct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buSzPct 50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buSzPct 90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buSzPct 150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bullet-textfont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2000" b="0" dirty="0">
                <a:solidFill>
                  <a:srgbClr val="000000"/>
                </a:solidFill>
                <a:latin typeface="Roboto"/>
                <a:cs typeface="Roboto"/>
              </a:rPr>
              <a:t>Roboto, bullet inherits the text font</a:t>
            </a:r>
            <a:endParaRPr lang="en-US" sz="20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lang="en-US" sz="2000" b="0" dirty="0">
                <a:solidFill>
                  <a:srgbClr val="000000"/>
                </a:solidFill>
                <a:latin typeface="Roboto"/>
                <a:cs typeface="Roboto"/>
              </a:rPr>
              <a:t>Second</a:t>
            </a:r>
            <a:endParaRPr lang="en-US" sz="2000" b="0" dirty="0">
              <a:solidFill>
                <a:srgbClr val="000000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number-27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2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3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4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5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6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7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8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9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10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11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number-12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2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3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4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5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6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7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8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9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10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52400" indent="-152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Item 11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multispace"/>
          <p:cNvSpPr/>
          <p:nvPr/>
        </p:nvSpPr>
        <p:spPr>
          <a:xfrm>
            <a:off x="457200" y="457200"/>
            <a:ext cx="1016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aaa    bbb   ccc dddddd eeeee  fffff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lead-trail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   four leading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four trailing    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runs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aaa   </a:t>
            </a:r>
            <a:r>
              <a:rPr lang="en-US" sz="1600" b="1" dirty="0">
                <a:solidFill>
                  <a:srgbClr val="000000"/>
                </a:solidFill>
                <a:latin typeface="Arial"/>
                <a:cs typeface="Arial"/>
              </a:rPr>
              <a:t>  bbb ccc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wrap-spaces"/>
          <p:cNvSpPr/>
          <p:nvPr/>
        </p:nvSpPr>
        <p:spPr>
          <a:xfrm>
            <a:off x="457200" y="457200"/>
            <a:ext cx="127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word          next word after many spaces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-empty-40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-empty-12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-empty-run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/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-br-br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b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</a:br>
            <a:b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-br-end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b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sizes-arial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u="sng" dirty="0">
                <a:solidFill>
                  <a:srgbClr val="000000"/>
                </a:solidFill>
                <a:latin typeface="Arial"/>
                <a:cs typeface="Arial"/>
              </a:rPr>
              <a:t>Hxg 8pt</a:t>
            </a:r>
            <a:endParaRPr lang="en-US" sz="8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sng" dirty="0">
                <a:solidFill>
                  <a:srgbClr val="000000"/>
                </a:solidFill>
                <a:latin typeface="Arial"/>
                <a:cs typeface="Arial"/>
              </a:rPr>
              <a:t>Hxg 10pt</a:t>
            </a:r>
            <a:endParaRPr lang="en-US" sz="1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sng" dirty="0">
                <a:solidFill>
                  <a:srgbClr val="000000"/>
                </a:solidFill>
                <a:latin typeface="Arial"/>
                <a:cs typeface="Arial"/>
              </a:rPr>
              <a:t>Hxg 12pt</a:t>
            </a:r>
            <a:endParaRPr lang="en-US" sz="12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sng" dirty="0">
                <a:solidFill>
                  <a:srgbClr val="000000"/>
                </a:solidFill>
                <a:latin typeface="Arial"/>
                <a:cs typeface="Arial"/>
              </a:rPr>
              <a:t>Hxg 16pt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sng" dirty="0">
                <a:solidFill>
                  <a:srgbClr val="000000"/>
                </a:solidFill>
                <a:latin typeface="Arial"/>
                <a:cs typeface="Arial"/>
              </a:rPr>
              <a:t>Hxg 20pt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u="sng" dirty="0">
                <a:solidFill>
                  <a:srgbClr val="000000"/>
                </a:solidFill>
                <a:latin typeface="Arial"/>
                <a:cs typeface="Arial"/>
              </a:rPr>
              <a:t>Hxg 24pt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dirty="0">
                <a:solidFill>
                  <a:srgbClr val="000000"/>
                </a:solidFill>
                <a:latin typeface="Arial"/>
                <a:cs typeface="Arial"/>
              </a:rPr>
              <a:t>Hxg 32pt</a:t>
            </a:r>
            <a:endParaRPr lang="en-US" sz="32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u="sng" dirty="0">
                <a:solidFill>
                  <a:srgbClr val="000000"/>
                </a:solidFill>
                <a:latin typeface="Arial"/>
                <a:cs typeface="Arial"/>
              </a:rPr>
              <a:t>Hxg 48pt</a:t>
            </a:r>
            <a:endParaRPr lang="en-US" sz="48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u="sng" dirty="0">
                <a:solidFill>
                  <a:srgbClr val="000000"/>
                </a:solidFill>
                <a:latin typeface="Arial"/>
                <a:cs typeface="Arial"/>
              </a:rPr>
              <a:t>Hxg 72pt</a:t>
            </a:r>
            <a:endParaRPr lang="en-US" sz="72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sizes-roboto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u="sng" dirty="0">
                <a:solidFill>
                  <a:srgbClr val="000000"/>
                </a:solidFill>
                <a:latin typeface="Roboto"/>
                <a:cs typeface="Roboto"/>
              </a:rPr>
              <a:t>Hxg 8pt</a:t>
            </a:r>
            <a:endParaRPr lang="en-US" sz="8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sng" dirty="0">
                <a:solidFill>
                  <a:srgbClr val="000000"/>
                </a:solidFill>
                <a:latin typeface="Roboto"/>
                <a:cs typeface="Roboto"/>
              </a:rPr>
              <a:t>Hxg 10pt</a:t>
            </a:r>
            <a:endParaRPr lang="en-US" sz="10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sng" dirty="0">
                <a:solidFill>
                  <a:srgbClr val="000000"/>
                </a:solidFill>
                <a:latin typeface="Roboto"/>
                <a:cs typeface="Roboto"/>
              </a:rPr>
              <a:t>Hxg 12pt</a:t>
            </a:r>
            <a:endParaRPr lang="en-US" sz="12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sng" dirty="0">
                <a:solidFill>
                  <a:srgbClr val="000000"/>
                </a:solidFill>
                <a:latin typeface="Roboto"/>
                <a:cs typeface="Roboto"/>
              </a:rPr>
              <a:t>Hxg 16pt</a:t>
            </a:r>
            <a:endParaRPr lang="en-US" sz="16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sng" dirty="0">
                <a:solidFill>
                  <a:srgbClr val="000000"/>
                </a:solidFill>
                <a:latin typeface="Roboto"/>
                <a:cs typeface="Roboto"/>
              </a:rPr>
              <a:t>Hxg 20pt</a:t>
            </a:r>
            <a:endParaRPr lang="en-US" sz="20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u="sng" dirty="0">
                <a:solidFill>
                  <a:srgbClr val="000000"/>
                </a:solidFill>
                <a:latin typeface="Roboto"/>
                <a:cs typeface="Roboto"/>
              </a:rPr>
              <a:t>Hxg 24pt</a:t>
            </a:r>
            <a:endParaRPr lang="en-US" sz="24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u="sng" dirty="0">
                <a:solidFill>
                  <a:srgbClr val="000000"/>
                </a:solidFill>
                <a:latin typeface="Roboto"/>
                <a:cs typeface="Roboto"/>
              </a:rPr>
              <a:t>Hxg 32pt</a:t>
            </a:r>
            <a:endParaRPr lang="en-US" sz="32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u="sng" dirty="0">
                <a:solidFill>
                  <a:srgbClr val="000000"/>
                </a:solidFill>
                <a:latin typeface="Roboto"/>
                <a:cs typeface="Roboto"/>
              </a:rPr>
              <a:t>Hxg 48pt</a:t>
            </a:r>
            <a:endParaRPr lang="en-US" sz="48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u="sng" dirty="0">
                <a:solidFill>
                  <a:srgbClr val="000000"/>
                </a:solidFill>
                <a:latin typeface="Roboto"/>
                <a:cs typeface="Roboto"/>
              </a:rPr>
              <a:t>Hxg 72pt</a:t>
            </a:r>
            <a:endParaRPr lang="en-US" sz="7200" b="0" dirty="0">
              <a:solidFill>
                <a:srgbClr val="000000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big-arial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u="sng" dirty="0">
                <a:solidFill>
                  <a:srgbClr val="000000"/>
                </a:solidFill>
                <a:latin typeface="Arial"/>
                <a:cs typeface="Arial"/>
              </a:rPr>
              <a:t>Hxg 96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u="sng" dirty="0">
                <a:solidFill>
                  <a:srgbClr val="000000"/>
                </a:solidFill>
                <a:latin typeface="Arial"/>
                <a:cs typeface="Arial"/>
              </a:rPr>
              <a:t>Hxg 144</a:t>
            </a:r>
            <a:endParaRPr lang="en-US" sz="14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big-roboto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u="sng" dirty="0">
                <a:solidFill>
                  <a:srgbClr val="000000"/>
                </a:solidFill>
                <a:latin typeface="Roboto"/>
                <a:cs typeface="Roboto"/>
              </a:rPr>
              <a:t>Hxg 96</a:t>
            </a:r>
            <a:endParaRPr lang="en-US" sz="96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u="sng" dirty="0">
                <a:solidFill>
                  <a:srgbClr val="000000"/>
                </a:solidFill>
                <a:latin typeface="Roboto"/>
                <a:cs typeface="Roboto"/>
              </a:rPr>
              <a:t>Hxg 144</a:t>
            </a:r>
            <a:endParaRPr lang="en-US" sz="14400" b="0" dirty="0">
              <a:solidFill>
                <a:srgbClr val="000000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mixed"/>
          <p:cNvSpPr/>
          <p:nvPr/>
        </p:nvSpPr>
        <p:spPr>
          <a:xfrm>
            <a:off x="457200" y="457200"/>
            <a:ext cx="508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sng" dirty="0">
                <a:solidFill>
                  <a:srgbClr val="000000"/>
                </a:solidFill>
                <a:latin typeface="Arial"/>
                <a:cs typeface="Arial"/>
              </a:rPr>
              <a:t>small </a:t>
            </a:r>
            <a:r>
              <a:rPr lang="en-US" sz="4000" b="0" u="sng" dirty="0">
                <a:solidFill>
                  <a:srgbClr val="000000"/>
                </a:solidFill>
                <a:latin typeface="Arial"/>
                <a:cs typeface="Arial"/>
              </a:rPr>
              <a:t>BIG</a:t>
            </a:r>
            <a:r>
              <a:rPr lang="en-US" sz="1600" b="0" u="sng" dirty="0">
                <a:solidFill>
                  <a:srgbClr val="000000"/>
                </a:solidFill>
                <a:latin typeface="Arial"/>
                <a:cs typeface="Arial"/>
              </a:rPr>
              <a:t> small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mix-big-first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u="sng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1000" b="0" u="sng" dirty="0">
                <a:solidFill>
                  <a:srgbClr val="000000"/>
                </a:solidFill>
                <a:latin typeface="Arial"/>
                <a:cs typeface="Arial"/>
              </a:rPr>
              <a:t> small text</a:t>
            </a:r>
            <a:endParaRPr lang="en-US" sz="1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mix-small-first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sng" dirty="0">
                <a:solidFill>
                  <a:srgbClr val="000000"/>
                </a:solidFill>
                <a:latin typeface="Arial"/>
                <a:cs typeface="Arial"/>
              </a:rPr>
              <a:t>small text </a:t>
            </a:r>
            <a:r>
              <a:rPr lang="en-US" sz="10000" b="0" u="sng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endParaRPr lang="en-US" sz="10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mix-small-wide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u="sng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1000" b="0" u="sng" dirty="0">
                <a:solidFill>
                  <a:srgbClr val="000000"/>
                </a:solidFill>
                <a:latin typeface="Arial"/>
                <a:cs typeface="Arial"/>
              </a:rPr>
              <a:t> small text that is much wider than the big letter in front of it</a:t>
            </a:r>
            <a:endParaRPr lang="en-US" sz="1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mix-big-only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small </a:t>
            </a:r>
            <a:r>
              <a:rPr lang="en-US" sz="10000" b="0" u="sng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 small</a:t>
            </a:r>
            <a:endParaRPr lang="en-US" sz="1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mix-small-only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sng" dirty="0">
                <a:solidFill>
                  <a:srgbClr val="000000"/>
                </a:solidFill>
                <a:latin typeface="Arial"/>
                <a:cs typeface="Arial"/>
              </a:rPr>
              <a:t>small </a:t>
            </a:r>
            <a:r>
              <a:rPr lang="en-US" sz="10000" b="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1000" b="0" u="sng" dirty="0">
                <a:solidFill>
                  <a:srgbClr val="000000"/>
                </a:solidFill>
                <a:latin typeface="Arial"/>
                <a:cs typeface="Arial"/>
              </a:rPr>
              <a:t> small</a:t>
            </a:r>
            <a:endParaRPr lang="en-US" sz="1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-sizes-arial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strike="sngStrike" dirty="0">
                <a:solidFill>
                  <a:srgbClr val="000000"/>
                </a:solidFill>
                <a:latin typeface="Arial"/>
                <a:cs typeface="Arial"/>
              </a:rPr>
              <a:t>Hxg 16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strike="sngStrike" dirty="0">
                <a:solidFill>
                  <a:srgbClr val="000000"/>
                </a:solidFill>
                <a:latin typeface="Arial"/>
                <a:cs typeface="Arial"/>
              </a:rPr>
              <a:t>Hxg 48</a:t>
            </a:r>
            <a:endParaRPr lang="en-US" sz="48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strike="sngStrike" dirty="0">
                <a:solidFill>
                  <a:srgbClr val="000000"/>
                </a:solidFill>
                <a:latin typeface="Arial"/>
                <a:cs typeface="Arial"/>
              </a:rPr>
              <a:t>Hxg 96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strike="sngStrike" dirty="0">
                <a:solidFill>
                  <a:srgbClr val="000000"/>
                </a:solidFill>
                <a:latin typeface="Arial"/>
                <a:cs typeface="Arial"/>
              </a:rPr>
              <a:t>Hxg 144</a:t>
            </a:r>
            <a:endParaRPr lang="en-US" sz="14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-sizes-roboto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strike="sngStrike" dirty="0">
                <a:solidFill>
                  <a:srgbClr val="000000"/>
                </a:solidFill>
                <a:latin typeface="Roboto"/>
                <a:cs typeface="Roboto"/>
              </a:rPr>
              <a:t>Hxg 16</a:t>
            </a:r>
            <a:endParaRPr lang="en-US" sz="16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strike="sngStrike" dirty="0">
                <a:solidFill>
                  <a:srgbClr val="000000"/>
                </a:solidFill>
                <a:latin typeface="Roboto"/>
                <a:cs typeface="Roboto"/>
              </a:rPr>
              <a:t>Hxg 48</a:t>
            </a:r>
            <a:endParaRPr lang="en-US" sz="48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strike="sngStrike" dirty="0">
                <a:solidFill>
                  <a:srgbClr val="000000"/>
                </a:solidFill>
                <a:latin typeface="Roboto"/>
                <a:cs typeface="Roboto"/>
              </a:rPr>
              <a:t>Hxg 96</a:t>
            </a:r>
            <a:endParaRPr lang="en-US" sz="9600" b="0" dirty="0">
              <a:solidFill>
                <a:srgbClr val="000000"/>
              </a:solidFill>
              <a:latin typeface="Roboto"/>
              <a:cs typeface="Roboto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strike="sngStrike" dirty="0">
                <a:solidFill>
                  <a:srgbClr val="000000"/>
                </a:solidFill>
                <a:latin typeface="Roboto"/>
                <a:cs typeface="Roboto"/>
              </a:rPr>
              <a:t>Hxg 144</a:t>
            </a:r>
            <a:endParaRPr lang="en-US" sz="14400" b="0" dirty="0">
              <a:solidFill>
                <a:srgbClr val="000000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-mix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strike="sngStrike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1000" b="0" strike="sngStrike" dirty="0">
                <a:solidFill>
                  <a:srgbClr val="000000"/>
                </a:solidFill>
                <a:latin typeface="Arial"/>
                <a:cs typeface="Arial"/>
              </a:rPr>
              <a:t> small text</a:t>
            </a:r>
            <a:endParaRPr lang="en-US" sz="1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partial"/>
          <p:cNvSpPr/>
          <p:nvPr/>
        </p:nvSpPr>
        <p:spPr>
          <a:xfrm>
            <a:off x="457200" y="457200"/>
            <a:ext cx="508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plain </a:t>
            </a:r>
            <a:r>
              <a:rPr lang="en-US" sz="1600" b="0" u="sng" dirty="0">
                <a:solidFill>
                  <a:srgbClr val="000000"/>
                </a:solidFill>
                <a:latin typeface="Arial"/>
                <a:cs typeface="Arial"/>
              </a:rPr>
              <a:t>under lined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plain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-wrap-trailing"/>
          <p:cNvSpPr/>
          <p:nvPr/>
        </p:nvSpPr>
        <p:spPr>
          <a:xfrm>
            <a:off x="457200" y="457200"/>
            <a:ext cx="1524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sng" dirty="0">
                <a:solidFill>
                  <a:srgbClr val="000000"/>
                </a:solidFill>
                <a:latin typeface="Arial"/>
                <a:cs typeface="Arial"/>
              </a:rPr>
              <a:t>underlined words that wrap here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0"/>
          <p:cNvSpPr/>
          <p:nvPr/>
        </p:nvSpPr>
        <p:spPr>
          <a:xfrm>
            <a:off x="457200" y="457200"/>
            <a:ext cx="990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state-of-the-art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1"/>
          <p:cNvSpPr/>
          <p:nvPr/>
        </p:nvSpPr>
        <p:spPr>
          <a:xfrm>
            <a:off x="457200" y="457200"/>
            <a:ext cx="7493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well-known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2"/>
          <p:cNvSpPr/>
          <p:nvPr/>
        </p:nvSpPr>
        <p:spPr>
          <a:xfrm>
            <a:off x="457200" y="457200"/>
            <a:ext cx="4191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e-mail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3"/>
          <p:cNvSpPr/>
          <p:nvPr/>
        </p:nvSpPr>
        <p:spPr>
          <a:xfrm>
            <a:off x="457200" y="457200"/>
            <a:ext cx="7747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2024-10-06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4"/>
          <p:cNvSpPr/>
          <p:nvPr/>
        </p:nvSpPr>
        <p:spPr>
          <a:xfrm>
            <a:off x="457200" y="457200"/>
            <a:ext cx="7747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TEST-1234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5"/>
          <p:cNvSpPr/>
          <p:nvPr/>
        </p:nvSpPr>
        <p:spPr>
          <a:xfrm>
            <a:off x="457200" y="457200"/>
            <a:ext cx="1168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+1-800-555-0199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6"/>
          <p:cNvSpPr/>
          <p:nvPr/>
        </p:nvSpPr>
        <p:spPr>
          <a:xfrm>
            <a:off x="457200" y="457200"/>
            <a:ext cx="2413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A-1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7"/>
          <p:cNvSpPr/>
          <p:nvPr/>
        </p:nvSpPr>
        <p:spPr>
          <a:xfrm>
            <a:off x="457200" y="457200"/>
            <a:ext cx="3937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10-20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8"/>
          <p:cNvSpPr/>
          <p:nvPr/>
        </p:nvSpPr>
        <p:spPr>
          <a:xfrm>
            <a:off x="457200" y="457200"/>
            <a:ext cx="3429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x-ray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9"/>
          <p:cNvSpPr/>
          <p:nvPr/>
        </p:nvSpPr>
        <p:spPr>
          <a:xfrm>
            <a:off x="457200" y="457200"/>
            <a:ext cx="9525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non‑breaking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10"/>
          <p:cNvSpPr/>
          <p:nvPr/>
        </p:nvSpPr>
        <p:spPr>
          <a:xfrm>
            <a:off x="457200" y="457200"/>
            <a:ext cx="5842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en–dash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11"/>
          <p:cNvSpPr/>
          <p:nvPr/>
        </p:nvSpPr>
        <p:spPr>
          <a:xfrm>
            <a:off x="457200" y="457200"/>
            <a:ext cx="6985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em—dash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12"/>
          <p:cNvSpPr/>
          <p:nvPr/>
        </p:nvSpPr>
        <p:spPr>
          <a:xfrm>
            <a:off x="457200" y="457200"/>
            <a:ext cx="7493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soft­hyphen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13"/>
          <p:cNvSpPr/>
          <p:nvPr/>
        </p:nvSpPr>
        <p:spPr>
          <a:xfrm>
            <a:off x="457200" y="457200"/>
            <a:ext cx="5969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co-op-ed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-sentence"/>
          <p:cNvSpPr/>
          <p:nvPr/>
        </p:nvSpPr>
        <p:spPr>
          <a:xfrm>
            <a:off x="457200" y="457200"/>
            <a:ext cx="1651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Arial"/>
                <a:cs typeface="Arial"/>
              </a:rPr>
              <a:t>The well-known state-of-the-art e-mail system</a:t>
            </a:r>
            <a:endParaRPr lang="en-US" sz="2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times-new-roman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latin typeface="Times New Roman"/>
                <a:cs typeface="Times New Roman"/>
              </a:rPr>
              <a:t>Hxg 12</a:t>
            </a:r>
            <a:endParaRPr lang="en-US" sz="12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  <a:cs typeface="Times New Roman"/>
              </a:rPr>
              <a:t>Hxg 16</a:t>
            </a:r>
            <a:endParaRPr lang="en-US" sz="16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Times New Roman"/>
                <a:cs typeface="Times New Roman"/>
              </a:rPr>
              <a:t>Hxg 24</a:t>
            </a:r>
            <a:endParaRPr lang="en-US" sz="24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rgbClr val="000000"/>
                </a:solidFill>
                <a:latin typeface="Times New Roman"/>
                <a:cs typeface="Times New Roman"/>
              </a:rPr>
              <a:t>Hxg 48</a:t>
            </a:r>
            <a:endParaRPr lang="en-US" sz="48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Times New Roman"/>
                <a:cs typeface="Times New Roman"/>
              </a:rPr>
              <a:t>Hxg 96</a:t>
            </a:r>
            <a:endParaRPr lang="en-US" sz="96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dirty="0">
                <a:solidFill>
                  <a:srgbClr val="000000"/>
                </a:solidFill>
                <a:latin typeface="Times New Roman"/>
                <a:cs typeface="Times New Roman"/>
              </a:rPr>
              <a:t>Hxg 144</a:t>
            </a:r>
            <a:endParaRPr lang="en-US" sz="14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georgia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latin typeface="Georgia"/>
                <a:cs typeface="Georgia"/>
              </a:rPr>
              <a:t>Hxg 12</a:t>
            </a:r>
            <a:endParaRPr lang="en-US" sz="1200" b="0" dirty="0">
              <a:solidFill>
                <a:srgbClr val="000000"/>
              </a:solidFill>
              <a:latin typeface="Georgia"/>
              <a:cs typeface="Georgi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Georgia"/>
                <a:cs typeface="Georgia"/>
              </a:rPr>
              <a:t>Hxg 16</a:t>
            </a:r>
            <a:endParaRPr lang="en-US" sz="1600" b="0" dirty="0">
              <a:solidFill>
                <a:srgbClr val="000000"/>
              </a:solidFill>
              <a:latin typeface="Georgia"/>
              <a:cs typeface="Georgi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Georgia"/>
                <a:cs typeface="Georgia"/>
              </a:rPr>
              <a:t>Hxg 24</a:t>
            </a:r>
            <a:endParaRPr lang="en-US" sz="2400" b="0" dirty="0">
              <a:solidFill>
                <a:srgbClr val="000000"/>
              </a:solidFill>
              <a:latin typeface="Georgia"/>
              <a:cs typeface="Georgi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rgbClr val="000000"/>
                </a:solidFill>
                <a:latin typeface="Georgia"/>
                <a:cs typeface="Georgia"/>
              </a:rPr>
              <a:t>Hxg 48</a:t>
            </a:r>
            <a:endParaRPr lang="en-US" sz="4800" b="0" dirty="0">
              <a:solidFill>
                <a:srgbClr val="000000"/>
              </a:solidFill>
              <a:latin typeface="Georgia"/>
              <a:cs typeface="Georgi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Georgia"/>
                <a:cs typeface="Georgia"/>
              </a:rPr>
              <a:t>Hxg 96</a:t>
            </a:r>
            <a:endParaRPr lang="en-US" sz="9600" b="0" dirty="0">
              <a:solidFill>
                <a:srgbClr val="000000"/>
              </a:solidFill>
              <a:latin typeface="Georgia"/>
              <a:cs typeface="Georgi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dirty="0">
                <a:solidFill>
                  <a:srgbClr val="000000"/>
                </a:solidFill>
                <a:latin typeface="Georgia"/>
                <a:cs typeface="Georgia"/>
              </a:rPr>
              <a:t>Hxg 144</a:t>
            </a:r>
            <a:endParaRPr lang="en-US" sz="14400" b="0" dirty="0">
              <a:solidFill>
                <a:srgbClr val="000000"/>
              </a:solidFill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verdana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latin typeface="Verdana"/>
                <a:cs typeface="Verdana"/>
              </a:rPr>
              <a:t>Hxg 12</a:t>
            </a:r>
            <a:endParaRPr lang="en-US" sz="1200" b="0" dirty="0">
              <a:solidFill>
                <a:srgbClr val="000000"/>
              </a:solidFill>
              <a:latin typeface="Verdana"/>
              <a:cs typeface="Verdan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Verdana"/>
                <a:cs typeface="Verdana"/>
              </a:rPr>
              <a:t>Hxg 16</a:t>
            </a:r>
            <a:endParaRPr lang="en-US" sz="1600" b="0" dirty="0">
              <a:solidFill>
                <a:srgbClr val="000000"/>
              </a:solidFill>
              <a:latin typeface="Verdana"/>
              <a:cs typeface="Verdan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Verdana"/>
                <a:cs typeface="Verdana"/>
              </a:rPr>
              <a:t>Hxg 24</a:t>
            </a:r>
            <a:endParaRPr lang="en-US" sz="2400" b="0" dirty="0">
              <a:solidFill>
                <a:srgbClr val="000000"/>
              </a:solidFill>
              <a:latin typeface="Verdana"/>
              <a:cs typeface="Verdan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rgbClr val="000000"/>
                </a:solidFill>
                <a:latin typeface="Verdana"/>
                <a:cs typeface="Verdana"/>
              </a:rPr>
              <a:t>Hxg 48</a:t>
            </a:r>
            <a:endParaRPr lang="en-US" sz="4800" b="0" dirty="0">
              <a:solidFill>
                <a:srgbClr val="000000"/>
              </a:solidFill>
              <a:latin typeface="Verdana"/>
              <a:cs typeface="Verdan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Verdana"/>
                <a:cs typeface="Verdana"/>
              </a:rPr>
              <a:t>Hxg 96</a:t>
            </a:r>
            <a:endParaRPr lang="en-US" sz="9600" b="0" dirty="0">
              <a:solidFill>
                <a:srgbClr val="000000"/>
              </a:solidFill>
              <a:latin typeface="Verdana"/>
              <a:cs typeface="Verdan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dirty="0">
                <a:solidFill>
                  <a:srgbClr val="000000"/>
                </a:solidFill>
                <a:latin typeface="Verdana"/>
                <a:cs typeface="Verdana"/>
              </a:rPr>
              <a:t>Hxg 144</a:t>
            </a:r>
            <a:endParaRPr lang="en-US" sz="14400" b="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courier-new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latin typeface="Courier New"/>
                <a:cs typeface="Courier New"/>
              </a:rPr>
              <a:t>Hxg 12</a:t>
            </a:r>
            <a:endParaRPr lang="en-US" sz="1200" b="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Courier New"/>
                <a:cs typeface="Courier New"/>
              </a:rPr>
              <a:t>Hxg 16</a:t>
            </a:r>
            <a:endParaRPr lang="en-US" sz="1600" b="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Courier New"/>
                <a:cs typeface="Courier New"/>
              </a:rPr>
              <a:t>Hxg 24</a:t>
            </a:r>
            <a:endParaRPr lang="en-US" sz="2400" b="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rgbClr val="000000"/>
                </a:solidFill>
                <a:latin typeface="Courier New"/>
                <a:cs typeface="Courier New"/>
              </a:rPr>
              <a:t>Hxg 48</a:t>
            </a:r>
            <a:endParaRPr lang="en-US" sz="4800" b="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Courier New"/>
                <a:cs typeface="Courier New"/>
              </a:rPr>
              <a:t>Hxg 96</a:t>
            </a:r>
            <a:endParaRPr lang="en-US" sz="9600" b="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dirty="0">
                <a:solidFill>
                  <a:srgbClr val="000000"/>
                </a:solidFill>
                <a:latin typeface="Courier New"/>
                <a:cs typeface="Courier New"/>
              </a:rPr>
              <a:t>Hxg 144</a:t>
            </a:r>
            <a:endParaRPr lang="en-US" sz="14400" b="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tahoma"/>
          <p:cNvSpPr/>
          <p:nvPr/>
        </p:nvSpPr>
        <p:spPr>
          <a:xfrm>
            <a:off x="457200" y="457200"/>
            <a:ext cx="889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latin typeface="Tahoma"/>
                <a:cs typeface="Tahoma"/>
              </a:rPr>
              <a:t>Hxg 12</a:t>
            </a:r>
            <a:endParaRPr lang="en-US" sz="1200" b="0" dirty="0">
              <a:solidFill>
                <a:srgbClr val="000000"/>
              </a:solidFill>
              <a:latin typeface="Tahoma"/>
              <a:cs typeface="Tahom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ahoma"/>
                <a:cs typeface="Tahoma"/>
              </a:rPr>
              <a:t>Hxg 16</a:t>
            </a:r>
            <a:endParaRPr lang="en-US" sz="1600" b="0" dirty="0">
              <a:solidFill>
                <a:srgbClr val="000000"/>
              </a:solidFill>
              <a:latin typeface="Tahoma"/>
              <a:cs typeface="Tahom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Tahoma"/>
                <a:cs typeface="Tahoma"/>
              </a:rPr>
              <a:t>Hxg 24</a:t>
            </a:r>
            <a:endParaRPr lang="en-US" sz="2400" b="0" dirty="0">
              <a:solidFill>
                <a:srgbClr val="000000"/>
              </a:solidFill>
              <a:latin typeface="Tahoma"/>
              <a:cs typeface="Tahom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rgbClr val="000000"/>
                </a:solidFill>
                <a:latin typeface="Tahoma"/>
                <a:cs typeface="Tahoma"/>
              </a:rPr>
              <a:t>Hxg 48</a:t>
            </a:r>
            <a:endParaRPr lang="en-US" sz="4800" b="0" dirty="0">
              <a:solidFill>
                <a:srgbClr val="000000"/>
              </a:solidFill>
              <a:latin typeface="Tahoma"/>
              <a:cs typeface="Tahom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Tahoma"/>
                <a:cs typeface="Tahoma"/>
              </a:rPr>
              <a:t>Hxg 96</a:t>
            </a:r>
            <a:endParaRPr lang="en-US" sz="9600" b="0" dirty="0">
              <a:solidFill>
                <a:srgbClr val="000000"/>
              </a:solidFill>
              <a:latin typeface="Tahoma"/>
              <a:cs typeface="Tahoma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dirty="0">
                <a:solidFill>
                  <a:srgbClr val="000000"/>
                </a:solidFill>
                <a:latin typeface="Tahoma"/>
                <a:cs typeface="Tahoma"/>
              </a:rPr>
              <a:t>Hxg 144</a:t>
            </a:r>
            <a:endParaRPr lang="en-US" sz="14400" b="0" dirty="0">
              <a:solidFill>
                <a:srgbClr val="000000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-center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-right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-spaces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centred    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   centred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right    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   right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-right-mixed"/>
          <p:cNvSpPr/>
          <p:nvPr/>
        </p:nvSpPr>
        <p:spPr>
          <a:xfrm>
            <a:off x="457200" y="457200"/>
            <a:ext cx="2794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Small words then </a:t>
            </a:r>
            <a:r>
              <a:rPr lang="en-US" sz="2800" b="0" dirty="0">
                <a:solidFill>
                  <a:srgbClr val="000000"/>
                </a:solidFill>
                <a:latin typeface="Arial"/>
                <a:cs typeface="Arial"/>
              </a:rPr>
              <a:t>BIG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and more small words that wrap onto further lines.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-center-indent"/>
          <p:cNvSpPr/>
          <p:nvPr/>
        </p:nvSpPr>
        <p:spPr>
          <a:xfrm>
            <a:off x="457200" y="457200"/>
            <a:ext cx="3048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marL="508000" indent="25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-plus3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spc="30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-minus1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spc="-10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-mixed"/>
          <p:cNvSpPr/>
          <p:nvPr/>
        </p:nvSpPr>
        <p:spPr>
          <a:xfrm>
            <a:off x="457200" y="457200"/>
            <a:ext cx="508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normal </a:t>
            </a:r>
            <a:r>
              <a:rPr lang="en-US" sz="1600" b="0" spc="500" dirty="0">
                <a:solidFill>
                  <a:srgbClr val="000000"/>
                </a:solidFill>
                <a:latin typeface="Arial"/>
                <a:cs typeface="Arial"/>
              </a:rPr>
              <a:t>spaced out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normal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-justify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spc="200" dirty="0">
                <a:solidFill>
                  <a:srgbClr val="000000"/>
                </a:solidFill>
                <a:latin typeface="Arial"/>
                <a:cs typeface="Arial"/>
              </a:rPr>
              <a:t>The quick brown fox jumps over the lazy dog while a frame measures every line box and decides where each word wraps inside the given rectangle.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-right"/>
          <p:cNvSpPr/>
          <p:nvPr/>
        </p:nvSpPr>
        <p:spPr>
          <a:xfrm>
            <a:off x="457200" y="457200"/>
            <a:ext cx="254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spc="400" dirty="0">
                <a:solidFill>
                  <a:srgbClr val="000000"/>
                </a:solidFill>
                <a:latin typeface="Arial"/>
                <a:cs typeface="Arial"/>
              </a:rPr>
              <a:t>Tracked right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-big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spc="1000" dirty="0">
                <a:solidFill>
                  <a:srgbClr val="000000"/>
                </a:solidFill>
                <a:latin typeface="Arial"/>
                <a:cs typeface="Arial"/>
              </a:rPr>
              <a:t>Tracking</a:t>
            </a:r>
            <a:endParaRPr lang="en-US" sz="48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super"/>
          <p:cNvSpPr/>
          <p:nvPr/>
        </p:nvSpPr>
        <p:spPr>
          <a:xfrm>
            <a:off x="457200" y="457200"/>
            <a:ext cx="508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 = mc</a:t>
            </a:r>
            <a:r>
              <a:rPr lang="en-US" sz="2400" b="0" baseline="30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 end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sub"/>
          <p:cNvSpPr/>
          <p:nvPr/>
        </p:nvSpPr>
        <p:spPr>
          <a:xfrm>
            <a:off x="457200" y="457200"/>
            <a:ext cx="508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2400" b="0" baseline="-25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O water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big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lang="en-US" sz="7200" b="0" baseline="3000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7200" b="0" baseline="-25000" dirty="0">
                <a:solidFill>
                  <a:srgbClr val="000000"/>
                </a:solidFill>
                <a:latin typeface="Arial"/>
                <a:cs typeface="Arial"/>
              </a:rPr>
              <a:t>C</a:t>
            </a:r>
            <a:r>
              <a:rPr lang="en-US" sz="7200" b="0" dirty="0">
                <a:solidFill>
                  <a:srgbClr val="000000"/>
                </a:solidFill>
                <a:latin typeface="Arial"/>
                <a:cs typeface="Arial"/>
              </a:rPr>
              <a:t>D</a:t>
            </a:r>
            <a:endParaRPr lang="en-US" sz="72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wrap"/>
          <p:cNvSpPr/>
          <p:nvPr/>
        </p:nvSpPr>
        <p:spPr>
          <a:xfrm>
            <a:off x="457200" y="457200"/>
            <a:ext cx="203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First line text </a:t>
            </a:r>
            <a:r>
              <a:rPr lang="en-US" sz="1600" b="0" baseline="30000" dirty="0">
                <a:solidFill>
                  <a:srgbClr val="000000"/>
                </a:solidFill>
                <a:latin typeface="Arial"/>
                <a:cs typeface="Arial"/>
              </a:rPr>
              <a:t>sup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then more words to wrap </a:t>
            </a:r>
            <a:r>
              <a:rPr lang="en-US" sz="1600" b="0" baseline="-25000" dirty="0">
                <a:solidFill>
                  <a:srgbClr val="000000"/>
                </a:solidFill>
                <a:latin typeface="Arial"/>
                <a:cs typeface="Arial"/>
              </a:rPr>
              <a:t>sub</a:t>
            </a: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 and end.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30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30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-25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-25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50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50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-50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-50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15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15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-10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-10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pct80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r>
              <a:rPr lang="en-US" sz="9600" b="0" baseline="8000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lang="en-US" sz="9600" b="0" dirty="0">
                <a:solidFill>
                  <a:srgbClr val="000000"/>
                </a:solidFill>
                <a:latin typeface="Arial"/>
                <a:cs typeface="Arial"/>
              </a:rPr>
              <a:t>H</a:t>
            </a:r>
            <a:endParaRPr lang="en-US" sz="9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size13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1300" b="0" baseline="30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1300" b="0" baseline="-25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endParaRPr lang="en-US" sz="13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size17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1700" b="0" baseline="30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1700" b="0" baseline="-25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endParaRPr lang="en-US" sz="17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size25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2500" b="0" baseline="30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2500" b="0" baseline="-25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endParaRPr lang="en-US" sz="25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-size40"/>
          <p:cNvSpPr/>
          <p:nvPr/>
        </p:nvSpPr>
        <p:spPr>
          <a:xfrm>
            <a:off x="457200" y="457200"/>
            <a:ext cx="762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4000" b="0" baseline="30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r>
              <a:rPr lang="en-US" sz="4000" b="0" baseline="-25000" dirty="0">
                <a:solidFill>
                  <a:srgbClr val="000000"/>
                </a:solidFill>
                <a:latin typeface="Arial"/>
                <a:cs typeface="Arial"/>
              </a:rPr>
              <a:t>0000</a:t>
            </a:r>
            <a:endParaRPr lang="en-US" sz="40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bullets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Level 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Level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143000" indent="-22860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Level 2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Back to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Back to 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numbers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Nested a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Nested b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Two after nesting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Three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break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Two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Plain paragraph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After plain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schemes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romanUcPeriod" startAt="4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roman 4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romanUcPeriod" startAt="4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roman 5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romanUcPeriod" startAt="4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roman 6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 startAt="25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alpha 25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 startAt="25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alpha 26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nested-again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 under 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b under 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Two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under two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1143000" indent="-22860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romanU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deeper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Three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bullet-same-level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Two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 bullet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after the bullet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bullet-nested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nested bullet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after nested bullet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startat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from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from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from 10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 startAt="10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from 10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from 1 again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start-deep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starts at level 1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685800" indent="-22860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then level 0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level 0 again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empty-between"/>
          <p:cNvSpPr/>
          <p:nvPr/>
        </p:nvSpPr>
        <p:spPr>
          <a:xfrm>
            <a:off x="457200" y="457200"/>
            <a:ext cx="3810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One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after an empty numbered paragraph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center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Centred item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 centred item that wraps onto a second line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v-right"/>
          <p:cNvSpPr/>
          <p:nvPr/>
        </p:nvSpPr>
        <p:spPr>
          <a:xfrm>
            <a:off x="457200" y="457200"/>
            <a:ext cx="330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Right item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r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b="0" dirty="0">
                <a:solidFill>
                  <a:srgbClr val="000000"/>
                </a:solidFill>
                <a:latin typeface="Arial"/>
                <a:cs typeface="Arial"/>
              </a:rPr>
              <a:t>Second</a:t>
            </a:r>
            <a:endParaRPr lang="en-US" sz="16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2026-10-22T06:51:41Z</dcterms:created>
  <dcterms:modified xsi:type="dcterms:W3CDTF">2026-10-22T06:51:41Z</dcterms:modified>
</cp:coreProperties>
</file>