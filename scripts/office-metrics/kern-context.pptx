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" y="50800"/>
            <a:ext cx="11704320" cy="33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 CONTEXT — every box = vyaz width +0.06pt, vyaz expects ONE line (green). A wrapped box = PowerPoint is wider than vyaz for that string (kerning not applied). ox yo = no kern pair (control). Rows: Arial 36pt, Calibri 16pt, Times New Roman 16pt; 4 strings per row.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52400" y="431800"/>
            <a:ext cx="289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A36_ox_yo · [ox yo] · W 86.35 · kernΔ 0</a:t>
            </a:r>
            <a:endParaRPr lang="en-US" sz="750" dirty="0"/>
          </a:p>
        </p:txBody>
      </p:sp>
      <p:sp>
        <p:nvSpPr>
          <p:cNvPr id="4" name="A36_ox_yo_W86.35"/>
          <p:cNvSpPr/>
          <p:nvPr/>
        </p:nvSpPr>
        <p:spPr>
          <a:xfrm>
            <a:off x="152400" y="571500"/>
            <a:ext cx="1096645" cy="54864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 yo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149600" y="431800"/>
            <a:ext cx="289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A36_Tayo · [Tayo] · W 76.36 · kernΔ 0</a:t>
            </a:r>
            <a:endParaRPr lang="en-US" sz="750" dirty="0"/>
          </a:p>
        </p:txBody>
      </p:sp>
      <p:sp>
        <p:nvSpPr>
          <p:cNvPr id="6" name="A36_Tayo_W76.36"/>
          <p:cNvSpPr/>
          <p:nvPr/>
        </p:nvSpPr>
        <p:spPr>
          <a:xfrm>
            <a:off x="3149600" y="571500"/>
            <a:ext cx="969772" cy="54864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Tayo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146800" y="431800"/>
            <a:ext cx="289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A36_Ta_yo · [Ta yo] · W 86.36 · kernΔ 0</a:t>
            </a:r>
            <a:endParaRPr lang="en-US" sz="750" dirty="0"/>
          </a:p>
        </p:txBody>
      </p:sp>
      <p:sp>
        <p:nvSpPr>
          <p:cNvPr id="8" name="A36_Ta_yo_W86.36"/>
          <p:cNvSpPr/>
          <p:nvPr/>
        </p:nvSpPr>
        <p:spPr>
          <a:xfrm>
            <a:off x="6146800" y="571500"/>
            <a:ext cx="1096772" cy="54864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yo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144000" y="431800"/>
            <a:ext cx="289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A36_Tax_yo · [Tax yo] · W 104.36 · kernΔ 0</a:t>
            </a:r>
            <a:endParaRPr lang="en-US" sz="750" dirty="0"/>
          </a:p>
        </p:txBody>
      </p:sp>
      <p:sp>
        <p:nvSpPr>
          <p:cNvPr id="10" name="A36_Tax_yo_W104.36"/>
          <p:cNvSpPr/>
          <p:nvPr/>
        </p:nvSpPr>
        <p:spPr>
          <a:xfrm>
            <a:off x="9144000" y="571500"/>
            <a:ext cx="1325372" cy="54864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yo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52400" y="1744980"/>
            <a:ext cx="289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A36_yo_Ta · [yo Ta] · W 86.36 · kernΔ 0</a:t>
            </a:r>
            <a:endParaRPr lang="en-US" sz="750" dirty="0"/>
          </a:p>
        </p:txBody>
      </p:sp>
      <p:sp>
        <p:nvSpPr>
          <p:cNvPr id="12" name="A36_yo_Ta_W86.36"/>
          <p:cNvSpPr/>
          <p:nvPr/>
        </p:nvSpPr>
        <p:spPr>
          <a:xfrm>
            <a:off x="152400" y="1884680"/>
            <a:ext cx="1096772" cy="54864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 Ta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149600" y="1744980"/>
            <a:ext cx="289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A36_AV_yo · [AV yo] · W 93.68 · kernΔ 0</a:t>
            </a:r>
            <a:endParaRPr lang="en-US" sz="750" dirty="0"/>
          </a:p>
        </p:txBody>
      </p:sp>
      <p:sp>
        <p:nvSpPr>
          <p:cNvPr id="14" name="A36_AV_yo_W93.68"/>
          <p:cNvSpPr/>
          <p:nvPr/>
        </p:nvSpPr>
        <p:spPr>
          <a:xfrm>
            <a:off x="3149600" y="1884680"/>
            <a:ext cx="1189736" cy="54864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yo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46800" y="1744980"/>
            <a:ext cx="289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A36_AVo_yo · [AVo yo] · W 111.69 · kernΔ 0</a:t>
            </a:r>
            <a:endParaRPr lang="en-US" sz="750" dirty="0"/>
          </a:p>
        </p:txBody>
      </p:sp>
      <p:sp>
        <p:nvSpPr>
          <p:cNvPr id="16" name="A36_AVo_yo_W111.69"/>
          <p:cNvSpPr/>
          <p:nvPr/>
        </p:nvSpPr>
        <p:spPr>
          <a:xfrm>
            <a:off x="6146800" y="1884680"/>
            <a:ext cx="1418463" cy="54864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 yo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144000" y="1744980"/>
            <a:ext cx="289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A36_yo_AV · [yo AV] · W 93.68 · kernΔ 0</a:t>
            </a:r>
            <a:endParaRPr lang="en-US" sz="750" dirty="0"/>
          </a:p>
        </p:txBody>
      </p:sp>
      <p:sp>
        <p:nvSpPr>
          <p:cNvPr id="18" name="A36_yo_AV_W93.68"/>
          <p:cNvSpPr/>
          <p:nvPr/>
        </p:nvSpPr>
        <p:spPr>
          <a:xfrm>
            <a:off x="9144000" y="1884680"/>
            <a:ext cx="1189736" cy="54864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 AV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52400" y="3058160"/>
            <a:ext cx="289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C16_ox_yo · [ox yo] · W 34.6 · kernΔ 0</a:t>
            </a:r>
            <a:endParaRPr lang="en-US" sz="750" dirty="0"/>
          </a:p>
        </p:txBody>
      </p:sp>
      <p:sp>
        <p:nvSpPr>
          <p:cNvPr id="20" name="C16_ox_yo_W34.6"/>
          <p:cNvSpPr/>
          <p:nvPr/>
        </p:nvSpPr>
        <p:spPr>
          <a:xfrm>
            <a:off x="152400" y="3197860"/>
            <a:ext cx="439420" cy="24384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 yo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149600" y="3058160"/>
            <a:ext cx="289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C16_Tayo · [Tayo] · W 29.74 · kernΔ 0</a:t>
            </a:r>
            <a:endParaRPr lang="en-US" sz="750" dirty="0"/>
          </a:p>
        </p:txBody>
      </p:sp>
      <p:sp>
        <p:nvSpPr>
          <p:cNvPr id="22" name="C16_Tayo_W29.74"/>
          <p:cNvSpPr/>
          <p:nvPr/>
        </p:nvSpPr>
        <p:spPr>
          <a:xfrm>
            <a:off x="3149600" y="3197860"/>
            <a:ext cx="377698" cy="24384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46800" y="3058160"/>
            <a:ext cx="289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C16_Ta_yo · [Ta yo] · W 33.66 · kernΔ 0</a:t>
            </a:r>
            <a:endParaRPr lang="en-US" sz="750" dirty="0"/>
          </a:p>
        </p:txBody>
      </p:sp>
      <p:sp>
        <p:nvSpPr>
          <p:cNvPr id="24" name="C16_Ta_yo_W33.66"/>
          <p:cNvSpPr/>
          <p:nvPr/>
        </p:nvSpPr>
        <p:spPr>
          <a:xfrm>
            <a:off x="6146800" y="3197860"/>
            <a:ext cx="427482" cy="24384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yo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0" y="3058160"/>
            <a:ext cx="289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C16_Tax_yo · [Tax yo] · W 40.39 · kernΔ 0</a:t>
            </a:r>
            <a:endParaRPr lang="en-US" sz="750" dirty="0"/>
          </a:p>
        </p:txBody>
      </p:sp>
      <p:sp>
        <p:nvSpPr>
          <p:cNvPr id="26" name="C16_Tax_yo_W40.39"/>
          <p:cNvSpPr/>
          <p:nvPr/>
        </p:nvSpPr>
        <p:spPr>
          <a:xfrm>
            <a:off x="9144000" y="3197860"/>
            <a:ext cx="512953" cy="24384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yo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2400" y="3688588"/>
            <a:ext cx="289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C16_yo_Ta · [yo Ta] · W 33.66 · kernΔ 0</a:t>
            </a:r>
            <a:endParaRPr lang="en-US" sz="750" dirty="0"/>
          </a:p>
        </p:txBody>
      </p:sp>
      <p:sp>
        <p:nvSpPr>
          <p:cNvPr id="28" name="C16_yo_Ta_W33.66"/>
          <p:cNvSpPr/>
          <p:nvPr/>
        </p:nvSpPr>
        <p:spPr>
          <a:xfrm>
            <a:off x="152400" y="3828288"/>
            <a:ext cx="427482" cy="24384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 Ta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149600" y="3688588"/>
            <a:ext cx="289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C16_AV_yo · [AV yo] · W 37.22 · kernΔ 0</a:t>
            </a:r>
            <a:endParaRPr lang="en-US" sz="750" dirty="0"/>
          </a:p>
        </p:txBody>
      </p:sp>
      <p:sp>
        <p:nvSpPr>
          <p:cNvPr id="30" name="C16_AV_yo_W37.22"/>
          <p:cNvSpPr/>
          <p:nvPr/>
        </p:nvSpPr>
        <p:spPr>
          <a:xfrm>
            <a:off x="3149600" y="3828288"/>
            <a:ext cx="472694" cy="24384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yo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46800" y="3688588"/>
            <a:ext cx="289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C16_AVo_yo · [AVo yo] · W 45.05 · kernΔ 0</a:t>
            </a:r>
            <a:endParaRPr lang="en-US" sz="750" dirty="0"/>
          </a:p>
        </p:txBody>
      </p:sp>
      <p:sp>
        <p:nvSpPr>
          <p:cNvPr id="32" name="C16_AVo_yo_W45.05"/>
          <p:cNvSpPr/>
          <p:nvPr/>
        </p:nvSpPr>
        <p:spPr>
          <a:xfrm>
            <a:off x="6146800" y="3828288"/>
            <a:ext cx="572135" cy="24384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 yo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0" y="3688588"/>
            <a:ext cx="289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C16_yo_AV · [yo AV] · W 37.22 · kernΔ 0</a:t>
            </a:r>
            <a:endParaRPr lang="en-US" sz="750" dirty="0"/>
          </a:p>
        </p:txBody>
      </p:sp>
      <p:sp>
        <p:nvSpPr>
          <p:cNvPr id="34" name="C16_yo_AV_W37.22"/>
          <p:cNvSpPr/>
          <p:nvPr/>
        </p:nvSpPr>
        <p:spPr>
          <a:xfrm>
            <a:off x="9144000" y="3828288"/>
            <a:ext cx="472694" cy="24384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 AV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52400" y="4319016"/>
            <a:ext cx="289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TNR16_ox_yo · [ox yo] · W 36.35 · kernΔ 0</a:t>
            </a:r>
            <a:endParaRPr lang="en-US" sz="750" dirty="0"/>
          </a:p>
        </p:txBody>
      </p:sp>
      <p:sp>
        <p:nvSpPr>
          <p:cNvPr id="36" name="TNR16_ox_yo_W36.35"/>
          <p:cNvSpPr/>
          <p:nvPr/>
        </p:nvSpPr>
        <p:spPr>
          <a:xfrm>
            <a:off x="152400" y="4458716"/>
            <a:ext cx="461645" cy="24384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ox yo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149600" y="4319016"/>
            <a:ext cx="289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TNR16_Tayo · [Tayo] · W 32.11 · kernΔ 0</a:t>
            </a:r>
            <a:endParaRPr lang="en-US" sz="750" dirty="0"/>
          </a:p>
        </p:txBody>
      </p:sp>
      <p:sp>
        <p:nvSpPr>
          <p:cNvPr id="38" name="TNR16_Tayo_W32.11"/>
          <p:cNvSpPr/>
          <p:nvPr/>
        </p:nvSpPr>
        <p:spPr>
          <a:xfrm>
            <a:off x="3149600" y="4458716"/>
            <a:ext cx="407797" cy="24384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Tayo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146800" y="4319016"/>
            <a:ext cx="289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TNR16_Ta_yo · [Ta yo] · W 36.11 · kernΔ 0</a:t>
            </a:r>
            <a:endParaRPr lang="en-US" sz="750" dirty="0"/>
          </a:p>
        </p:txBody>
      </p:sp>
      <p:sp>
        <p:nvSpPr>
          <p:cNvPr id="40" name="TNR16_Ta_yo_W36.11"/>
          <p:cNvSpPr/>
          <p:nvPr/>
        </p:nvSpPr>
        <p:spPr>
          <a:xfrm>
            <a:off x="6146800" y="4458716"/>
            <a:ext cx="458597" cy="24384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 yo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44000" y="4319016"/>
            <a:ext cx="289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TNR16_Tax_yo · [Tax yo] · W 44.11 · kernΔ 0</a:t>
            </a:r>
            <a:endParaRPr lang="en-US" sz="750" dirty="0"/>
          </a:p>
        </p:txBody>
      </p:sp>
      <p:sp>
        <p:nvSpPr>
          <p:cNvPr id="42" name="TNR16_Tax_yo_W44.11"/>
          <p:cNvSpPr/>
          <p:nvPr/>
        </p:nvSpPr>
        <p:spPr>
          <a:xfrm>
            <a:off x="9144000" y="4458716"/>
            <a:ext cx="560197" cy="24384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Tax yo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52400" y="4949444"/>
            <a:ext cx="289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TNR16_yo_Ta · [yo Ta] · W 36.11 · kernΔ 0</a:t>
            </a:r>
            <a:endParaRPr lang="en-US" sz="750" dirty="0"/>
          </a:p>
        </p:txBody>
      </p:sp>
      <p:sp>
        <p:nvSpPr>
          <p:cNvPr id="44" name="TNR16_yo_Ta_W36.11"/>
          <p:cNvSpPr/>
          <p:nvPr/>
        </p:nvSpPr>
        <p:spPr>
          <a:xfrm>
            <a:off x="152400" y="5089144"/>
            <a:ext cx="458597" cy="24384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 Ta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149600" y="4949444"/>
            <a:ext cx="289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TNR16_AV_yo · [AV yo] · W 41.29 · kernΔ 0</a:t>
            </a:r>
            <a:endParaRPr lang="en-US" sz="750" dirty="0"/>
          </a:p>
        </p:txBody>
      </p:sp>
      <p:sp>
        <p:nvSpPr>
          <p:cNvPr id="46" name="TNR16_AV_yo_W41.29"/>
          <p:cNvSpPr/>
          <p:nvPr/>
        </p:nvSpPr>
        <p:spPr>
          <a:xfrm>
            <a:off x="3149600" y="5089144"/>
            <a:ext cx="524383" cy="24384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 yo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146800" y="4949444"/>
            <a:ext cx="289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TNR16_AVo_yo · [AVo yo] · W 47.23 · kernΔ 0</a:t>
            </a:r>
            <a:endParaRPr lang="en-US" sz="750" dirty="0"/>
          </a:p>
        </p:txBody>
      </p:sp>
      <p:sp>
        <p:nvSpPr>
          <p:cNvPr id="48" name="TNR16_AVo_yo_W47.23"/>
          <p:cNvSpPr/>
          <p:nvPr/>
        </p:nvSpPr>
        <p:spPr>
          <a:xfrm>
            <a:off x="6146800" y="5089144"/>
            <a:ext cx="599821" cy="24384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AVo yo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144000" y="4949444"/>
            <a:ext cx="289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TNR16_yo_AV · [yo AV] · W 41.29 · kernΔ 0</a:t>
            </a:r>
            <a:endParaRPr lang="en-US" sz="750" dirty="0"/>
          </a:p>
        </p:txBody>
      </p:sp>
      <p:sp>
        <p:nvSpPr>
          <p:cNvPr id="50" name="TNR16_yo_AV_W41.29"/>
          <p:cNvSpPr/>
          <p:nvPr/>
        </p:nvSpPr>
        <p:spPr>
          <a:xfrm>
            <a:off x="9144000" y="5089144"/>
            <a:ext cx="524383" cy="243840"/>
          </a:xfrm>
          <a:prstGeom prst="rect">
            <a:avLst/>
          </a:prstGeom>
          <a:noFill/>
          <a:ln w="19050">
            <a:solidFill>
              <a:srgbClr val="00A05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 AV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6200"/>
            <a:ext cx="5486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72136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 (200pt, 1 lines)</a:t>
            </a:r>
            <a:endParaRPr lang="en-US" sz="900" dirty="0"/>
          </a:p>
        </p:txBody>
      </p:sp>
      <p:sp>
        <p:nvSpPr>
          <p:cNvPr id="4" name="Roboto_short_natural__lines1"/>
          <p:cNvSpPr/>
          <p:nvPr/>
        </p:nvSpPr>
        <p:spPr>
          <a:xfrm>
            <a:off x="365760" y="924560"/>
            <a:ext cx="2540000" cy="2743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Short line here.</a:t>
            </a:r>
            <a:endParaRPr lang="en-US" sz="1800" dirty="0"/>
          </a:p>
        </p:txBody>
      </p:sp>
      <p:sp>
        <p:nvSpPr>
          <p:cNvPr id="5" name="Roboto_short_forced__lines1"/>
          <p:cNvSpPr/>
          <p:nvPr/>
        </p:nvSpPr>
        <p:spPr>
          <a:xfrm>
            <a:off x="3210560" y="924560"/>
            <a:ext cx="2540000" cy="2743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Short line here.</a:t>
            </a:r>
            <a:endParaRPr lang="en-US" sz="1800" dirty="0"/>
          </a:p>
        </p:txBody>
      </p:sp>
      <p:sp>
        <p:nvSpPr>
          <p:cNvPr id="6" name="Roboto_short_fitwidth__lines1"/>
          <p:cNvSpPr/>
          <p:nvPr/>
        </p:nvSpPr>
        <p:spPr>
          <a:xfrm>
            <a:off x="6055360" y="924560"/>
            <a:ext cx="1522476" cy="2743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Short line here.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40208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two-line  (200pt, 2 lines)</a:t>
            </a:r>
            <a:endParaRPr lang="en-US" sz="900" dirty="0"/>
          </a:p>
        </p:txBody>
      </p:sp>
      <p:sp>
        <p:nvSpPr>
          <p:cNvPr id="8" name="Roboto_two-line_natural__lines2"/>
          <p:cNvSpPr/>
          <p:nvPr/>
        </p:nvSpPr>
        <p:spPr>
          <a:xfrm>
            <a:off x="365760" y="1605280"/>
            <a:ext cx="2540000" cy="5486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This text wraps onto two lines exactly.</a:t>
            </a:r>
            <a:endParaRPr lang="en-US" sz="1800" dirty="0"/>
          </a:p>
        </p:txBody>
      </p:sp>
      <p:sp>
        <p:nvSpPr>
          <p:cNvPr id="9" name="Roboto_two-line_forced__lines2"/>
          <p:cNvSpPr/>
          <p:nvPr/>
        </p:nvSpPr>
        <p:spPr>
          <a:xfrm>
            <a:off x="3210560" y="1605280"/>
            <a:ext cx="2540000" cy="5486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This text wraps onto two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lines exactly.</a:t>
            </a:r>
            <a:endParaRPr lang="en-US" sz="1800" dirty="0"/>
          </a:p>
        </p:txBody>
      </p:sp>
      <p:sp>
        <p:nvSpPr>
          <p:cNvPr id="10" name="Roboto_two-line_fitwidth__lines2"/>
          <p:cNvSpPr/>
          <p:nvPr/>
        </p:nvSpPr>
        <p:spPr>
          <a:xfrm>
            <a:off x="6055360" y="1605280"/>
            <a:ext cx="2560701" cy="5486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This text wraps onto two lines exactly.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235712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 (200pt, 9 lines)</a:t>
            </a:r>
            <a:endParaRPr lang="en-US" sz="900" dirty="0"/>
          </a:p>
        </p:txBody>
      </p:sp>
      <p:sp>
        <p:nvSpPr>
          <p:cNvPr id="12" name="Roboto_paragraph_natural__lines9"/>
          <p:cNvSpPr/>
          <p:nvPr/>
        </p:nvSpPr>
        <p:spPr>
          <a:xfrm>
            <a:off x="365760" y="2560320"/>
            <a:ext cx="2540000" cy="24688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13" name="Roboto_paragraph_forced__lines9"/>
          <p:cNvSpPr/>
          <p:nvPr/>
        </p:nvSpPr>
        <p:spPr>
          <a:xfrm>
            <a:off x="3210560" y="2560320"/>
            <a:ext cx="2540000" cy="24688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jumps over the lazy dog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while a TextFrame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measures every line box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and decides where each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word wraps inside the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given rectangle, with no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autofit shrinking the text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to make it fit.</a:t>
            </a:r>
            <a:endParaRPr lang="en-US" sz="1800" dirty="0"/>
          </a:p>
        </p:txBody>
      </p:sp>
      <p:sp>
        <p:nvSpPr>
          <p:cNvPr id="14" name="Roboto_paragraph_fitwidth__lines9"/>
          <p:cNvSpPr/>
          <p:nvPr/>
        </p:nvSpPr>
        <p:spPr>
          <a:xfrm>
            <a:off x="6055360" y="2560320"/>
            <a:ext cx="2517775" cy="24688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" y="523240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 (100pt, 20 lines)</a:t>
            </a:r>
            <a:endParaRPr lang="en-US" sz="900" dirty="0"/>
          </a:p>
        </p:txBody>
      </p:sp>
      <p:sp>
        <p:nvSpPr>
          <p:cNvPr id="16" name="Roboto_narrow_natural__lines20"/>
          <p:cNvSpPr/>
          <p:nvPr/>
        </p:nvSpPr>
        <p:spPr>
          <a:xfrm>
            <a:off x="365760" y="5435600"/>
            <a:ext cx="1270000" cy="5486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17" name="Roboto_narrow_forced__lines20"/>
          <p:cNvSpPr/>
          <p:nvPr/>
        </p:nvSpPr>
        <p:spPr>
          <a:xfrm>
            <a:off x="1940560" y="5435600"/>
            <a:ext cx="1270000" cy="5486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brown fox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jumps over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lazy dog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while a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TextFrame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measures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every line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box and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decides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where each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word wraps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inside the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given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rectangle,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with no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autofit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shrinking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text to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make it fit.</a:t>
            </a:r>
            <a:endParaRPr lang="en-US" sz="1800" dirty="0"/>
          </a:p>
        </p:txBody>
      </p:sp>
      <p:sp>
        <p:nvSpPr>
          <p:cNvPr id="18" name="Roboto_narrow_fitwidth__lines20"/>
          <p:cNvSpPr/>
          <p:nvPr/>
        </p:nvSpPr>
        <p:spPr>
          <a:xfrm>
            <a:off x="3515360" y="5435600"/>
            <a:ext cx="1279525" cy="5486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643360" y="72136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long-word  (200pt, 4 lines)</a:t>
            </a:r>
            <a:endParaRPr lang="en-US" sz="900" dirty="0"/>
          </a:p>
        </p:txBody>
      </p:sp>
      <p:sp>
        <p:nvSpPr>
          <p:cNvPr id="20" name="Roboto_long-word_natural__lines4"/>
          <p:cNvSpPr/>
          <p:nvPr/>
        </p:nvSpPr>
        <p:spPr>
          <a:xfrm>
            <a:off x="11643360" y="924560"/>
            <a:ext cx="2540000" cy="10972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Check this URL: https://example.com/a/very/long/path/that/does/not/have/any/spaces/in/it/at/all and then continue normally after it.</a:t>
            </a:r>
            <a:endParaRPr lang="en-US" sz="1800" dirty="0"/>
          </a:p>
        </p:txBody>
      </p:sp>
      <p:sp>
        <p:nvSpPr>
          <p:cNvPr id="21" name="Roboto_long-word_forced__lines4"/>
          <p:cNvSpPr/>
          <p:nvPr/>
        </p:nvSpPr>
        <p:spPr>
          <a:xfrm>
            <a:off x="14488160" y="924560"/>
            <a:ext cx="2540000" cy="10972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Check this URL: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https://example.com/a/very/long/path/that/does/not/have/any/spaces/in/it/at/all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and then continue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normally after it.</a:t>
            </a:r>
            <a:endParaRPr lang="en-US" sz="1800" dirty="0"/>
          </a:p>
        </p:txBody>
      </p:sp>
      <p:sp>
        <p:nvSpPr>
          <p:cNvPr id="22" name="Roboto_long-word_fitwidth__lines4"/>
          <p:cNvSpPr/>
          <p:nvPr/>
        </p:nvSpPr>
        <p:spPr>
          <a:xfrm>
            <a:off x="17332960" y="924560"/>
            <a:ext cx="8478901" cy="10972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Check this URL: https://example.com/a/very/long/path/that/does/not/have/any/spaces/in/it/at/all and then continue normally after it.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643360" y="222504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mixed-run  (260pt, 3 lines)</a:t>
            </a:r>
            <a:endParaRPr lang="en-US" sz="900" dirty="0"/>
          </a:p>
        </p:txBody>
      </p:sp>
      <p:sp>
        <p:nvSpPr>
          <p:cNvPr id="24" name="Roboto_mixed-run_natural__lines3"/>
          <p:cNvSpPr/>
          <p:nvPr/>
        </p:nvSpPr>
        <p:spPr>
          <a:xfrm>
            <a:off x="11643360" y="2428240"/>
            <a:ext cx="3302000" cy="1371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small before </a:t>
            </a:r>
            <a:pPr indent="0" marL="0">
              <a:lnSpc>
                <a:spcPct val="100000"/>
              </a:lnSpc>
              <a:buNone/>
            </a:pPr>
            <a:r>
              <a:rPr lang="en-US" sz="36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BIG MIDDLE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small after wraps here</a:t>
            </a:r>
            <a:endParaRPr lang="en-US" sz="1800" dirty="0"/>
          </a:p>
        </p:txBody>
      </p:sp>
      <p:sp>
        <p:nvSpPr>
          <p:cNvPr id="25" name="Roboto_mixed-run_forced__lines3"/>
          <p:cNvSpPr/>
          <p:nvPr/>
        </p:nvSpPr>
        <p:spPr>
          <a:xfrm>
            <a:off x="15250160" y="2428240"/>
            <a:ext cx="3302000" cy="1371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small before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36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BIG</a:t>
            </a:r>
            <a:pPr indent="0" marL="0">
              <a:lnSpc>
                <a:spcPct val="100000"/>
              </a:lnSpc>
              <a:buNone/>
            </a:pPr>
            <a:r>
              <a:rPr lang="en-US" sz="36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MIDDLE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small after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wraps here</a:t>
            </a:r>
            <a:endParaRPr lang="en-US" sz="1800" dirty="0"/>
          </a:p>
        </p:txBody>
      </p:sp>
      <p:sp>
        <p:nvSpPr>
          <p:cNvPr id="26" name="Roboto_mixed-run_fitwidth__lines3"/>
          <p:cNvSpPr/>
          <p:nvPr/>
        </p:nvSpPr>
        <p:spPr>
          <a:xfrm>
            <a:off x="18856960" y="2428240"/>
            <a:ext cx="2828925" cy="1371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small before </a:t>
            </a:r>
            <a:pPr indent="0" marL="0">
              <a:lnSpc>
                <a:spcPct val="100000"/>
              </a:lnSpc>
              <a:buNone/>
            </a:pPr>
            <a:r>
              <a:rPr lang="en-US" sz="3600" u="sng" dirty="0">
                <a:solidFill>
                  <a:srgbClr val="000000"/>
                </a:solidFill>
                <a:highlight>
                  <a:srgbClr val="FFA5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BIG MIDDLE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small after wraps here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643360" y="400304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size-12  (200pt, 6 lines)</a:t>
            </a:r>
            <a:endParaRPr lang="en-US" sz="900" dirty="0"/>
          </a:p>
        </p:txBody>
      </p:sp>
      <p:sp>
        <p:nvSpPr>
          <p:cNvPr id="28" name="Roboto_size-12_natural__lines6"/>
          <p:cNvSpPr/>
          <p:nvPr/>
        </p:nvSpPr>
        <p:spPr>
          <a:xfrm>
            <a:off x="11643360" y="4206240"/>
            <a:ext cx="2540000" cy="10972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200" dirty="0"/>
          </a:p>
        </p:txBody>
      </p:sp>
      <p:sp>
        <p:nvSpPr>
          <p:cNvPr id="29" name="Roboto_size-12_forced__lines6"/>
          <p:cNvSpPr/>
          <p:nvPr/>
        </p:nvSpPr>
        <p:spPr>
          <a:xfrm>
            <a:off x="14488160" y="4206240"/>
            <a:ext cx="2540000" cy="10972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</a:t>
            </a:r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lazy dog while a TextFrame</a:t>
            </a:r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measures every line box and decides</a:t>
            </a:r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where each word wraps inside the</a:t>
            </a:r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given rectangle, with no autofit</a:t>
            </a:r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shrinking the text to make it fit.</a:t>
            </a:r>
            <a:endParaRPr lang="en-US" sz="1200" dirty="0"/>
          </a:p>
        </p:txBody>
      </p:sp>
      <p:sp>
        <p:nvSpPr>
          <p:cNvPr id="30" name="Roboto_size-12_fitwidth__lines6"/>
          <p:cNvSpPr/>
          <p:nvPr/>
        </p:nvSpPr>
        <p:spPr>
          <a:xfrm>
            <a:off x="17332960" y="4206240"/>
            <a:ext cx="2530475" cy="10972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A5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643360" y="550672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size-24  (200pt, 13 lines)</a:t>
            </a:r>
            <a:endParaRPr lang="en-US" sz="900" dirty="0"/>
          </a:p>
        </p:txBody>
      </p:sp>
      <p:sp>
        <p:nvSpPr>
          <p:cNvPr id="32" name="Roboto_size-24_natural__lines13"/>
          <p:cNvSpPr/>
          <p:nvPr/>
        </p:nvSpPr>
        <p:spPr>
          <a:xfrm>
            <a:off x="11643360" y="5709920"/>
            <a:ext cx="2540000" cy="47548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2400" dirty="0"/>
          </a:p>
        </p:txBody>
      </p:sp>
      <p:sp>
        <p:nvSpPr>
          <p:cNvPr id="33" name="Roboto_size-24_forced__lines13"/>
          <p:cNvSpPr/>
          <p:nvPr/>
        </p:nvSpPr>
        <p:spPr>
          <a:xfrm>
            <a:off x="14488160" y="5709920"/>
            <a:ext cx="2540000" cy="47548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fox jumps over the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lazy dog while a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TextFrame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measures every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line box and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decides where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each word wraps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inside the given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rectangle, with no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autofit shrinking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text to make it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fit.</a:t>
            </a:r>
            <a:endParaRPr lang="en-US" sz="2400" dirty="0"/>
          </a:p>
        </p:txBody>
      </p:sp>
      <p:sp>
        <p:nvSpPr>
          <p:cNvPr id="34" name="Roboto_size-24_fitwidth__lines13"/>
          <p:cNvSpPr/>
          <p:nvPr/>
        </p:nvSpPr>
        <p:spPr>
          <a:xfrm>
            <a:off x="17332960" y="5709920"/>
            <a:ext cx="2590800" cy="47548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A5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6200"/>
            <a:ext cx="5486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72136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 (200pt, 1 lines)</a:t>
            </a:r>
            <a:endParaRPr lang="en-US" sz="900" dirty="0"/>
          </a:p>
        </p:txBody>
      </p:sp>
      <p:sp>
        <p:nvSpPr>
          <p:cNvPr id="4" name="Arial_short_natural__lines1"/>
          <p:cNvSpPr/>
          <p:nvPr/>
        </p:nvSpPr>
        <p:spPr>
          <a:xfrm>
            <a:off x="365760" y="924560"/>
            <a:ext cx="2540000" cy="2743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Short line here.</a:t>
            </a:r>
            <a:endParaRPr lang="en-US" sz="1800" dirty="0"/>
          </a:p>
        </p:txBody>
      </p:sp>
      <p:sp>
        <p:nvSpPr>
          <p:cNvPr id="5" name="Arial_short_forced__lines1"/>
          <p:cNvSpPr/>
          <p:nvPr/>
        </p:nvSpPr>
        <p:spPr>
          <a:xfrm>
            <a:off x="3210560" y="924560"/>
            <a:ext cx="2540000" cy="2743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Short line here.</a:t>
            </a:r>
            <a:endParaRPr lang="en-US" sz="1800" dirty="0"/>
          </a:p>
        </p:txBody>
      </p:sp>
      <p:sp>
        <p:nvSpPr>
          <p:cNvPr id="6" name="Arial_short_fitwidth__lines1"/>
          <p:cNvSpPr/>
          <p:nvPr/>
        </p:nvSpPr>
        <p:spPr>
          <a:xfrm>
            <a:off x="6055360" y="924560"/>
            <a:ext cx="1549400" cy="2743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Short line here.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40208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two-line  (200pt, 2 lines)</a:t>
            </a:r>
            <a:endParaRPr lang="en-US" sz="900" dirty="0"/>
          </a:p>
        </p:txBody>
      </p:sp>
      <p:sp>
        <p:nvSpPr>
          <p:cNvPr id="8" name="Arial_two-line_natural__lines2"/>
          <p:cNvSpPr/>
          <p:nvPr/>
        </p:nvSpPr>
        <p:spPr>
          <a:xfrm>
            <a:off x="365760" y="1605280"/>
            <a:ext cx="2540000" cy="5486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This text wraps onto two lines exactly.</a:t>
            </a:r>
            <a:endParaRPr lang="en-US" sz="1800" dirty="0"/>
          </a:p>
        </p:txBody>
      </p:sp>
      <p:sp>
        <p:nvSpPr>
          <p:cNvPr id="9" name="Arial_two-line_forced__lines2"/>
          <p:cNvSpPr/>
          <p:nvPr/>
        </p:nvSpPr>
        <p:spPr>
          <a:xfrm>
            <a:off x="3210560" y="1605280"/>
            <a:ext cx="2540000" cy="5486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This text wraps onto two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lines exactly.</a:t>
            </a:r>
            <a:endParaRPr lang="en-US" sz="1800" dirty="0"/>
          </a:p>
        </p:txBody>
      </p:sp>
      <p:sp>
        <p:nvSpPr>
          <p:cNvPr id="10" name="Arial_two-line_fitwidth__lines2"/>
          <p:cNvSpPr/>
          <p:nvPr/>
        </p:nvSpPr>
        <p:spPr>
          <a:xfrm>
            <a:off x="6055360" y="1605280"/>
            <a:ext cx="2527300" cy="5486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This text wraps onto two lines exactly.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235712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 (200pt, 9 lines)</a:t>
            </a:r>
            <a:endParaRPr lang="en-US" sz="900" dirty="0"/>
          </a:p>
        </p:txBody>
      </p:sp>
      <p:sp>
        <p:nvSpPr>
          <p:cNvPr id="12" name="Arial_paragraph_natural__lines9"/>
          <p:cNvSpPr/>
          <p:nvPr/>
        </p:nvSpPr>
        <p:spPr>
          <a:xfrm>
            <a:off x="365760" y="2560320"/>
            <a:ext cx="2540000" cy="24688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13" name="Arial_paragraph_forced__lines9"/>
          <p:cNvSpPr/>
          <p:nvPr/>
        </p:nvSpPr>
        <p:spPr>
          <a:xfrm>
            <a:off x="3210560" y="2560320"/>
            <a:ext cx="2540000" cy="24688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jumps over the lazy dog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while a TextFrame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measures every line box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and decides where each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word wraps inside the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given rectangle, with no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autofit shrinking the text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to make it fit.</a:t>
            </a:r>
            <a:endParaRPr lang="en-US" sz="1800" dirty="0"/>
          </a:p>
        </p:txBody>
      </p:sp>
      <p:sp>
        <p:nvSpPr>
          <p:cNvPr id="14" name="Arial_paragraph_fitwidth__lines9"/>
          <p:cNvSpPr/>
          <p:nvPr/>
        </p:nvSpPr>
        <p:spPr>
          <a:xfrm>
            <a:off x="6055360" y="2560320"/>
            <a:ext cx="2540000" cy="24688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" y="523240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 (100pt, 20 lines)</a:t>
            </a:r>
            <a:endParaRPr lang="en-US" sz="900" dirty="0"/>
          </a:p>
        </p:txBody>
      </p:sp>
      <p:sp>
        <p:nvSpPr>
          <p:cNvPr id="16" name="Arial_narrow_natural__lines20"/>
          <p:cNvSpPr/>
          <p:nvPr/>
        </p:nvSpPr>
        <p:spPr>
          <a:xfrm>
            <a:off x="365760" y="5435600"/>
            <a:ext cx="1270000" cy="5486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17" name="Arial_narrow_forced__lines20"/>
          <p:cNvSpPr/>
          <p:nvPr/>
        </p:nvSpPr>
        <p:spPr>
          <a:xfrm>
            <a:off x="1940560" y="5435600"/>
            <a:ext cx="1270000" cy="5486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brown fox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jumps over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lazy dog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while a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TextFrame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measures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every line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box and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decides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where each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word wraps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inside the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given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rectangle,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with no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autofit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shrinking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text to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make it fit.</a:t>
            </a:r>
            <a:endParaRPr lang="en-US" sz="1800" dirty="0"/>
          </a:p>
        </p:txBody>
      </p:sp>
      <p:sp>
        <p:nvSpPr>
          <p:cNvPr id="18" name="Arial_narrow_fitwidth__lines20"/>
          <p:cNvSpPr/>
          <p:nvPr/>
        </p:nvSpPr>
        <p:spPr>
          <a:xfrm>
            <a:off x="3515360" y="5435600"/>
            <a:ext cx="1295400" cy="5486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643360" y="72136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long-word  (200pt, 4 lines)</a:t>
            </a:r>
            <a:endParaRPr lang="en-US" sz="900" dirty="0"/>
          </a:p>
        </p:txBody>
      </p:sp>
      <p:sp>
        <p:nvSpPr>
          <p:cNvPr id="20" name="Arial_long-word_natural__lines4"/>
          <p:cNvSpPr/>
          <p:nvPr/>
        </p:nvSpPr>
        <p:spPr>
          <a:xfrm>
            <a:off x="11643360" y="924560"/>
            <a:ext cx="2540000" cy="10972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Check this URL: https://example.com/a/very/long/path/that/does/not/have/any/spaces/in/it/at/all and then continue normally after it.</a:t>
            </a:r>
            <a:endParaRPr lang="en-US" sz="1800" dirty="0"/>
          </a:p>
        </p:txBody>
      </p:sp>
      <p:sp>
        <p:nvSpPr>
          <p:cNvPr id="21" name="Arial_long-word_forced__lines4"/>
          <p:cNvSpPr/>
          <p:nvPr/>
        </p:nvSpPr>
        <p:spPr>
          <a:xfrm>
            <a:off x="14488160" y="924560"/>
            <a:ext cx="2540000" cy="10972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Check this URL: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https://example.com/a/very/long/path/that/does/not/have/any/spaces/in/it/at/all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and then continue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normally after it.</a:t>
            </a:r>
            <a:endParaRPr lang="en-US" sz="1800" dirty="0"/>
          </a:p>
        </p:txBody>
      </p:sp>
      <p:sp>
        <p:nvSpPr>
          <p:cNvPr id="22" name="Arial_long-word_fitwidth__lines4"/>
          <p:cNvSpPr/>
          <p:nvPr/>
        </p:nvSpPr>
        <p:spPr>
          <a:xfrm>
            <a:off x="17332960" y="924560"/>
            <a:ext cx="7924800" cy="10972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Check this URL: https://example.com/a/very/long/path/that/does/not/have/any/spaces/in/it/at/all and then continue normally after it.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643360" y="222504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mixed-run  (260pt, 3 lines)</a:t>
            </a:r>
            <a:endParaRPr lang="en-US" sz="900" dirty="0"/>
          </a:p>
        </p:txBody>
      </p:sp>
      <p:sp>
        <p:nvSpPr>
          <p:cNvPr id="24" name="Arial_mixed-run_natural__lines3"/>
          <p:cNvSpPr/>
          <p:nvPr/>
        </p:nvSpPr>
        <p:spPr>
          <a:xfrm>
            <a:off x="11643360" y="2428240"/>
            <a:ext cx="3302000" cy="1371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small before </a:t>
            </a:r>
            <a:pPr indent="0" marL="0">
              <a:lnSpc>
                <a:spcPct val="100000"/>
              </a:lnSpc>
              <a:buNone/>
            </a:pPr>
            <a:r>
              <a:rPr lang="en-US" sz="36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BIG MIDDLE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small after wraps here</a:t>
            </a:r>
            <a:endParaRPr lang="en-US" sz="1800" dirty="0"/>
          </a:p>
        </p:txBody>
      </p:sp>
      <p:sp>
        <p:nvSpPr>
          <p:cNvPr id="25" name="Arial_mixed-run_forced__lines3"/>
          <p:cNvSpPr/>
          <p:nvPr/>
        </p:nvSpPr>
        <p:spPr>
          <a:xfrm>
            <a:off x="15250160" y="2428240"/>
            <a:ext cx="3302000" cy="1371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small before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36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BIG</a:t>
            </a:r>
            <a:pPr indent="0" marL="0">
              <a:lnSpc>
                <a:spcPct val="100000"/>
              </a:lnSpc>
              <a:buNone/>
            </a:pPr>
            <a:r>
              <a:rPr lang="en-US" sz="36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MIDDLE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small after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wraps here</a:t>
            </a:r>
            <a:endParaRPr lang="en-US" sz="1800" dirty="0"/>
          </a:p>
        </p:txBody>
      </p:sp>
      <p:sp>
        <p:nvSpPr>
          <p:cNvPr id="26" name="Arial_mixed-run_fitwidth__lines3"/>
          <p:cNvSpPr/>
          <p:nvPr/>
        </p:nvSpPr>
        <p:spPr>
          <a:xfrm>
            <a:off x="18856960" y="2428240"/>
            <a:ext cx="2908300" cy="1371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small before </a:t>
            </a:r>
            <a:pPr indent="0" marL="0">
              <a:lnSpc>
                <a:spcPct val="100000"/>
              </a:lnSpc>
              <a:buNone/>
            </a:pPr>
            <a:r>
              <a:rPr lang="en-US" sz="3600" u="sng" dirty="0">
                <a:solidFill>
                  <a:srgbClr val="000000"/>
                </a:solidFill>
                <a:highlight>
                  <a:srgbClr val="FFA5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BIG MIDDLE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A5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small after wraps here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643360" y="400304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size-12  (200pt, 6 lines)</a:t>
            </a:r>
            <a:endParaRPr lang="en-US" sz="900" dirty="0"/>
          </a:p>
        </p:txBody>
      </p:sp>
      <p:sp>
        <p:nvSpPr>
          <p:cNvPr id="28" name="Arial_size-12_natural__lines6"/>
          <p:cNvSpPr/>
          <p:nvPr/>
        </p:nvSpPr>
        <p:spPr>
          <a:xfrm>
            <a:off x="11643360" y="4206240"/>
            <a:ext cx="2540000" cy="10972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200" dirty="0"/>
          </a:p>
        </p:txBody>
      </p:sp>
      <p:sp>
        <p:nvSpPr>
          <p:cNvPr id="29" name="Arial_size-12_forced__lines6"/>
          <p:cNvSpPr/>
          <p:nvPr/>
        </p:nvSpPr>
        <p:spPr>
          <a:xfrm>
            <a:off x="14488160" y="4206240"/>
            <a:ext cx="2540000" cy="10972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</a:t>
            </a:r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lazy dog while a TextFrame</a:t>
            </a:r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measures every line box and decides</a:t>
            </a:r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where each word wraps inside the</a:t>
            </a:r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given rectangle, with no autofit</a:t>
            </a:r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shrinking the text to make it fit.</a:t>
            </a:r>
            <a:endParaRPr lang="en-US" sz="1200" dirty="0"/>
          </a:p>
        </p:txBody>
      </p:sp>
      <p:sp>
        <p:nvSpPr>
          <p:cNvPr id="30" name="Arial_size-12_fitwidth__lines6"/>
          <p:cNvSpPr/>
          <p:nvPr/>
        </p:nvSpPr>
        <p:spPr>
          <a:xfrm>
            <a:off x="17332960" y="4206240"/>
            <a:ext cx="2549652" cy="10972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A5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643360" y="5506720"/>
            <a:ext cx="54864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size-24  (200pt, 13 lines)</a:t>
            </a:r>
            <a:endParaRPr lang="en-US" sz="900" dirty="0"/>
          </a:p>
        </p:txBody>
      </p:sp>
      <p:sp>
        <p:nvSpPr>
          <p:cNvPr id="32" name="Arial_size-24_natural__lines13"/>
          <p:cNvSpPr/>
          <p:nvPr/>
        </p:nvSpPr>
        <p:spPr>
          <a:xfrm>
            <a:off x="11643360" y="5709920"/>
            <a:ext cx="2540000" cy="47548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2400" dirty="0"/>
          </a:p>
        </p:txBody>
      </p:sp>
      <p:sp>
        <p:nvSpPr>
          <p:cNvPr id="33" name="Arial_size-24_forced__lines13"/>
          <p:cNvSpPr/>
          <p:nvPr/>
        </p:nvSpPr>
        <p:spPr>
          <a:xfrm>
            <a:off x="14488160" y="5709920"/>
            <a:ext cx="2540000" cy="47548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fox jumps over the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lazy dog while a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TextFrame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measures every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line box and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decides where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each word wraps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inside the given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rectangle, with no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autofit shrinking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text to make it</a:t>
            </a:r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fit.</a:t>
            </a:r>
            <a:endParaRPr lang="en-US" sz="2400" dirty="0"/>
          </a:p>
        </p:txBody>
      </p:sp>
      <p:sp>
        <p:nvSpPr>
          <p:cNvPr id="34" name="Arial_size-24_fitwidth__lines13"/>
          <p:cNvSpPr/>
          <p:nvPr/>
        </p:nvSpPr>
        <p:spPr>
          <a:xfrm>
            <a:off x="17332960" y="5709920"/>
            <a:ext cx="2575052" cy="47548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A5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quick brown fox jumps over the lazy dog while a TextFrame measures every line box and decides where each word wraps inside the given rectangle, with no autofit shrinking the text to make it fit.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2026-09-20T15:08:06Z</dcterms:created>
  <dcterms:modified xsi:type="dcterms:W3CDTF">2026-09-20T15:08:06Z</dcterms:modified>
</cp:coreProperties>
</file>